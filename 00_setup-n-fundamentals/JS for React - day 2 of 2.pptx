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  <p:sldMasterId id="2147483656" r:id="rId4"/>
    <p:sldMasterId id="2147483657" r:id="rId5"/>
    <p:sldMasterId id="2147483658" r:id="rId6"/>
    <p:sldMasterId id="214748365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143500" cx="9144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Assistant"/>
      <p:regular r:id="rId24"/>
      <p:bold r:id="rId25"/>
    </p:embeddedFont>
    <p:embeddedFont>
      <p:font typeface="Abel"/>
      <p:regular r:id="rId26"/>
    </p:embeddedFont>
    <p:embeddedFont>
      <p:font typeface="Comforta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Assistant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26" Type="http://schemas.openxmlformats.org/officeDocument/2006/relationships/font" Target="fonts/Abel-regular.fntdata"/><Relationship Id="rId25" Type="http://schemas.openxmlformats.org/officeDocument/2006/relationships/font" Target="fonts/Assistant-bold.fntdata"/><Relationship Id="rId28" Type="http://schemas.openxmlformats.org/officeDocument/2006/relationships/font" Target="fonts/Comfortaa-bold.fntdata"/><Relationship Id="rId27" Type="http://schemas.openxmlformats.org/officeDocument/2006/relationships/font" Target="fonts/Comfortaa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12056e4b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d12056e4b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Old: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14:00 - 15:00 Arrow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15:00 - 15:10 Break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15:10 - 16:00 forEach &amp; co.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16:10 - 16:10 Break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16:10 - 17:00 Modules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New: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14:00 - 15:00 Arrow functions &amp; destructuring =&gt; lecture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15:00 - 15:10 Break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15:15 - 15:50 Arrow functions &amp; destructuring =&gt; exercises (40m)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15:50 - 15:55 Break (5m)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15:55 - 16:15 forEach &amp; co. =&gt; theory (20m)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16:15 - 16:55 forEach &amp; co. =&gt; exercises (40m)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16:55 - 17:00 Modules (5m)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11b6e4503_0_1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11b6e4503_0_13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12056e4b4_1_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12056e4b4_1_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1be90b69a_0_18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1be90b69a_0_184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1be90b69a_0_19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1be90b69a_0_197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over Anil’s quiz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12056e4b4_1_20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12056e4b4_1_202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over Anil’s quiz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719640" y="1187640"/>
            <a:ext cx="624852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 rot="5400000">
            <a:off x="61200" y="3595680"/>
            <a:ext cx="1486080" cy="1608120"/>
          </a:xfrm>
          <a:custGeom>
            <a:rect b="b" l="l" r="r" t="t"/>
            <a:pathLst>
              <a:path extrusionOk="0" h="40938" w="37839">
                <a:moveTo>
                  <a:pt x="37839" y="0"/>
                </a:moveTo>
                <a:cubicBezTo>
                  <a:pt x="31770" y="767"/>
                  <a:pt x="28951" y="3515"/>
                  <a:pt x="26969" y="11313"/>
                </a:cubicBezTo>
                <a:cubicBezTo>
                  <a:pt x="24991" y="19111"/>
                  <a:pt x="19814" y="21473"/>
                  <a:pt x="9908" y="26266"/>
                </a:cubicBezTo>
                <a:cubicBezTo>
                  <a:pt x="1" y="31059"/>
                  <a:pt x="3737" y="40938"/>
                  <a:pt x="3737" y="40938"/>
                </a:cubicBezTo>
                <a:lnTo>
                  <a:pt x="37839" y="40938"/>
                </a:lnTo>
                <a:lnTo>
                  <a:pt x="37839" y="0"/>
                </a:ln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4393440" y="360"/>
            <a:ext cx="4750560" cy="5139720"/>
          </a:xfrm>
          <a:custGeom>
            <a:rect b="b" l="l" r="r" t="t"/>
            <a:pathLst>
              <a:path extrusionOk="0" h="40938" w="37839">
                <a:moveTo>
                  <a:pt x="37839" y="0"/>
                </a:moveTo>
                <a:cubicBezTo>
                  <a:pt x="31770" y="767"/>
                  <a:pt x="28951" y="3515"/>
                  <a:pt x="26969" y="11313"/>
                </a:cubicBezTo>
                <a:cubicBezTo>
                  <a:pt x="24991" y="19111"/>
                  <a:pt x="19814" y="21473"/>
                  <a:pt x="9908" y="26266"/>
                </a:cubicBezTo>
                <a:cubicBezTo>
                  <a:pt x="1" y="31059"/>
                  <a:pt x="3737" y="40938"/>
                  <a:pt x="3737" y="40938"/>
                </a:cubicBezTo>
                <a:lnTo>
                  <a:pt x="37839" y="40938"/>
                </a:lnTo>
                <a:lnTo>
                  <a:pt x="37839" y="0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489560" y="767520"/>
            <a:ext cx="3934440" cy="2815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flipH="1">
            <a:off x="-720" y="1126080"/>
            <a:ext cx="9143640" cy="4017240"/>
          </a:xfrm>
          <a:custGeom>
            <a:rect b="b" l="l" r="r" t="t"/>
            <a:pathLst>
              <a:path extrusionOk="0" h="31556" w="71821">
                <a:moveTo>
                  <a:pt x="71296" y="0"/>
                </a:moveTo>
                <a:cubicBezTo>
                  <a:pt x="60837" y="0"/>
                  <a:pt x="54281" y="13932"/>
                  <a:pt x="41985" y="17710"/>
                </a:cubicBezTo>
                <a:cubicBezTo>
                  <a:pt x="39771" y="18390"/>
                  <a:pt x="37802" y="18683"/>
                  <a:pt x="35997" y="18683"/>
                </a:cubicBezTo>
                <a:cubicBezTo>
                  <a:pt x="25430" y="18683"/>
                  <a:pt x="20525" y="8623"/>
                  <a:pt x="5409" y="7269"/>
                </a:cubicBezTo>
                <a:cubicBezTo>
                  <a:pt x="4585" y="7195"/>
                  <a:pt x="3783" y="7160"/>
                  <a:pt x="3004" y="7160"/>
                </a:cubicBezTo>
                <a:cubicBezTo>
                  <a:pt x="1963" y="7160"/>
                  <a:pt x="962" y="7224"/>
                  <a:pt x="1" y="7346"/>
                </a:cubicBezTo>
                <a:lnTo>
                  <a:pt x="1" y="31555"/>
                </a:lnTo>
                <a:lnTo>
                  <a:pt x="71820" y="31555"/>
                </a:lnTo>
                <a:lnTo>
                  <a:pt x="71820" y="12"/>
                </a:lnTo>
                <a:cubicBezTo>
                  <a:pt x="71644" y="4"/>
                  <a:pt x="71470" y="0"/>
                  <a:pt x="71296" y="0"/>
                </a:cubicBez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4912560" y="312840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4"/>
          <p:cNvSpPr txBox="1"/>
          <p:nvPr>
            <p:ph idx="2" type="title"/>
          </p:nvPr>
        </p:nvSpPr>
        <p:spPr>
          <a:xfrm>
            <a:off x="3474720" y="154872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4"/>
          <p:cNvSpPr txBox="1"/>
          <p:nvPr>
            <p:ph idx="3" type="title"/>
          </p:nvPr>
        </p:nvSpPr>
        <p:spPr>
          <a:xfrm>
            <a:off x="3474720" y="312840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4"/>
          <p:cNvSpPr txBox="1"/>
          <p:nvPr>
            <p:ph idx="4" type="title"/>
          </p:nvPr>
        </p:nvSpPr>
        <p:spPr>
          <a:xfrm>
            <a:off x="4912560" y="154872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719640" y="1159200"/>
            <a:ext cx="466416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6"/>
          <p:cNvSpPr/>
          <p:nvPr/>
        </p:nvSpPr>
        <p:spPr>
          <a:xfrm flipH="1" rot="10800000">
            <a:off x="4931640" y="360"/>
            <a:ext cx="4211640" cy="5142960"/>
          </a:xfrm>
          <a:custGeom>
            <a:rect b="b" l="l" r="r" t="t"/>
            <a:pathLst>
              <a:path extrusionOk="0" h="47931" w="39251">
                <a:moveTo>
                  <a:pt x="21033" y="0"/>
                </a:moveTo>
                <a:cubicBezTo>
                  <a:pt x="24804" y="8909"/>
                  <a:pt x="24227" y="19157"/>
                  <a:pt x="15856" y="27953"/>
                </a:cubicBezTo>
                <a:cubicBezTo>
                  <a:pt x="8909" y="35252"/>
                  <a:pt x="3511" y="39402"/>
                  <a:pt x="0" y="47931"/>
                </a:cubicBezTo>
                <a:lnTo>
                  <a:pt x="39251" y="47931"/>
                </a:lnTo>
                <a:lnTo>
                  <a:pt x="39251" y="0"/>
                </a:lnTo>
                <a:close/>
              </a:path>
            </a:pathLst>
          </a:custGeom>
          <a:solidFill>
            <a:srgbClr val="FBF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/>
          <p:nvPr/>
        </p:nvSpPr>
        <p:spPr>
          <a:xfrm flipH="1" rot="10800000">
            <a:off x="5489640" y="2836080"/>
            <a:ext cx="3653640" cy="2307600"/>
          </a:xfrm>
          <a:custGeom>
            <a:rect b="b" l="l" r="r" t="t"/>
            <a:pathLst>
              <a:path extrusionOk="0" h="24030" w="38046">
                <a:moveTo>
                  <a:pt x="1" y="0"/>
                </a:moveTo>
                <a:cubicBezTo>
                  <a:pt x="623" y="13426"/>
                  <a:pt x="7226" y="24029"/>
                  <a:pt x="16713" y="24029"/>
                </a:cubicBezTo>
                <a:cubicBezTo>
                  <a:pt x="17940" y="24029"/>
                  <a:pt x="19217" y="23851"/>
                  <a:pt x="20534" y="23479"/>
                </a:cubicBezTo>
                <a:cubicBezTo>
                  <a:pt x="27977" y="21378"/>
                  <a:pt x="33287" y="20158"/>
                  <a:pt x="38046" y="19582"/>
                </a:cubicBezTo>
                <a:lnTo>
                  <a:pt x="38046" y="0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28440" y="2063520"/>
            <a:ext cx="2961360" cy="2177640"/>
          </a:xfrm>
          <a:custGeom>
            <a:rect b="b" l="l" r="r" t="t"/>
            <a:pathLst>
              <a:path extrusionOk="0" h="12132" w="16498">
                <a:moveTo>
                  <a:pt x="7973" y="1"/>
                </a:moveTo>
                <a:cubicBezTo>
                  <a:pt x="7489" y="1"/>
                  <a:pt x="7030" y="47"/>
                  <a:pt x="6606" y="126"/>
                </a:cubicBezTo>
                <a:cubicBezTo>
                  <a:pt x="3445" y="716"/>
                  <a:pt x="576" y="3394"/>
                  <a:pt x="100" y="6519"/>
                </a:cubicBezTo>
                <a:cubicBezTo>
                  <a:pt x="26" y="7013"/>
                  <a:pt x="1" y="7501"/>
                  <a:pt x="23" y="7969"/>
                </a:cubicBezTo>
                <a:cubicBezTo>
                  <a:pt x="112" y="9903"/>
                  <a:pt x="1424" y="12132"/>
                  <a:pt x="4189" y="12132"/>
                </a:cubicBezTo>
                <a:cubicBezTo>
                  <a:pt x="4828" y="12132"/>
                  <a:pt x="5545" y="12012"/>
                  <a:pt x="6342" y="11743"/>
                </a:cubicBezTo>
                <a:cubicBezTo>
                  <a:pt x="9464" y="10688"/>
                  <a:pt x="14252" y="11303"/>
                  <a:pt x="15724" y="7969"/>
                </a:cubicBezTo>
                <a:cubicBezTo>
                  <a:pt x="16497" y="6214"/>
                  <a:pt x="15097" y="3742"/>
                  <a:pt x="13112" y="1998"/>
                </a:cubicBezTo>
                <a:cubicBezTo>
                  <a:pt x="11406" y="499"/>
                  <a:pt x="9558" y="1"/>
                  <a:pt x="7973" y="1"/>
                </a:cubicBezTo>
                <a:close/>
              </a:path>
            </a:pathLst>
          </a:cu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/>
          <p:nvPr/>
        </p:nvSpPr>
        <p:spPr>
          <a:xfrm flipH="1" rot="5400000">
            <a:off x="6714000" y="2713680"/>
            <a:ext cx="2269800" cy="2589120"/>
          </a:xfrm>
          <a:custGeom>
            <a:rect b="b" l="l" r="r" t="t"/>
            <a:pathLst>
              <a:path extrusionOk="0" h="37758" w="33102">
                <a:moveTo>
                  <a:pt x="1" y="1"/>
                </a:moveTo>
                <a:lnTo>
                  <a:pt x="1" y="37757"/>
                </a:lnTo>
                <a:cubicBezTo>
                  <a:pt x="3322" y="28273"/>
                  <a:pt x="9391" y="25844"/>
                  <a:pt x="19797" y="20348"/>
                </a:cubicBezTo>
                <a:cubicBezTo>
                  <a:pt x="30202" y="14852"/>
                  <a:pt x="33101" y="8972"/>
                  <a:pt x="31056" y="1"/>
                </a:cubicBez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"/>
          <p:cNvSpPr/>
          <p:nvPr/>
        </p:nvSpPr>
        <p:spPr>
          <a:xfrm flipH="1" rot="10800000">
            <a:off x="360" y="4168800"/>
            <a:ext cx="1265040" cy="974880"/>
          </a:xfrm>
          <a:custGeom>
            <a:rect b="b" l="l" r="r" t="t"/>
            <a:pathLst>
              <a:path extrusionOk="0" h="39005" w="50612">
                <a:moveTo>
                  <a:pt x="0" y="1"/>
                </a:moveTo>
                <a:lnTo>
                  <a:pt x="0" y="38373"/>
                </a:lnTo>
                <a:cubicBezTo>
                  <a:pt x="2481" y="38795"/>
                  <a:pt x="4983" y="39004"/>
                  <a:pt x="7479" y="39004"/>
                </a:cubicBezTo>
                <a:cubicBezTo>
                  <a:pt x="18546" y="39004"/>
                  <a:pt x="29478" y="34879"/>
                  <a:pt x="37820" y="26821"/>
                </a:cubicBezTo>
                <a:cubicBezTo>
                  <a:pt x="46532" y="18405"/>
                  <a:pt x="50612" y="7535"/>
                  <a:pt x="48437" y="1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 rot="-5400000">
            <a:off x="6808680" y="-24480"/>
            <a:ext cx="2310120" cy="2359800"/>
          </a:xfrm>
          <a:custGeom>
            <a:rect b="b" l="l" r="r" t="t"/>
            <a:pathLst>
              <a:path extrusionOk="0" h="42471" w="41577">
                <a:moveTo>
                  <a:pt x="29484" y="1"/>
                </a:moveTo>
                <a:cubicBezTo>
                  <a:pt x="14365" y="1"/>
                  <a:pt x="1" y="19132"/>
                  <a:pt x="3668" y="42471"/>
                </a:cubicBezTo>
                <a:lnTo>
                  <a:pt x="41576" y="42471"/>
                </a:lnTo>
                <a:lnTo>
                  <a:pt x="41576" y="4496"/>
                </a:lnTo>
                <a:cubicBezTo>
                  <a:pt x="37718" y="1401"/>
                  <a:pt x="33573" y="1"/>
                  <a:pt x="29484" y="1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1"/>
          <p:cNvSpPr/>
          <p:nvPr/>
        </p:nvSpPr>
        <p:spPr>
          <a:xfrm rot="-5400000">
            <a:off x="223560" y="1741320"/>
            <a:ext cx="3178800" cy="3625920"/>
          </a:xfrm>
          <a:custGeom>
            <a:rect b="b" l="l" r="r" t="t"/>
            <a:pathLst>
              <a:path extrusionOk="0" h="37758" w="33102">
                <a:moveTo>
                  <a:pt x="1" y="1"/>
                </a:moveTo>
                <a:lnTo>
                  <a:pt x="1" y="37757"/>
                </a:lnTo>
                <a:cubicBezTo>
                  <a:pt x="3322" y="28273"/>
                  <a:pt x="9391" y="25844"/>
                  <a:pt x="19797" y="20348"/>
                </a:cubicBezTo>
                <a:cubicBezTo>
                  <a:pt x="30202" y="14852"/>
                  <a:pt x="33101" y="8972"/>
                  <a:pt x="31056" y="1"/>
                </a:cubicBez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/>
          <p:nvPr>
            <p:ph type="title"/>
          </p:nvPr>
        </p:nvSpPr>
        <p:spPr>
          <a:xfrm>
            <a:off x="719640" y="1187640"/>
            <a:ext cx="624852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mozilla.org/en-US/docs/Web/JavaScript/Reference/Global_Objects/Promis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mozilla.org/en-US/docs/Web/JavaScript/Reference/Global_Objects/Promise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developer.mozilla.org/en-US/docs/Web/JavaScript/Reference/Global_Objects/Promis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forms/d/e/1FAIpQLSdcY60As_EmPiojXwB5X-eMqB_ovJgtjAdM6y4Gt4G-ftId4w/viewfor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forms/d/e/1FAIpQLSdcY60As_EmPiojXwB5X-eMqB_ovJgtjAdM6y4Gt4G-ftId4w/viewform" TargetMode="External"/><Relationship Id="rId4" Type="http://schemas.openxmlformats.org/officeDocument/2006/relationships/hyperlink" Target="https://docs.google.com/forms/d/e/1FAIpQLSdcY60As_EmPiojXwB5X-eMqB_ovJgtjAdM6y4Gt4G-ftId4w/viewfor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76320" y="76320"/>
            <a:ext cx="9143640" cy="5142960"/>
          </a:xfrm>
          <a:custGeom>
            <a:rect b="b" l="l" r="r" t="t"/>
            <a:pathLst>
              <a:path extrusionOk="0" h="63365" w="112650">
                <a:moveTo>
                  <a:pt x="40856" y="3091"/>
                </a:moveTo>
                <a:cubicBezTo>
                  <a:pt x="54200" y="3091"/>
                  <a:pt x="63181" y="19070"/>
                  <a:pt x="64514" y="32231"/>
                </a:cubicBezTo>
                <a:cubicBezTo>
                  <a:pt x="65972" y="46614"/>
                  <a:pt x="53105" y="60401"/>
                  <a:pt x="38196" y="60401"/>
                </a:cubicBezTo>
                <a:cubicBezTo>
                  <a:pt x="36834" y="60401"/>
                  <a:pt x="35456" y="60286"/>
                  <a:pt x="34069" y="60046"/>
                </a:cubicBezTo>
                <a:cubicBezTo>
                  <a:pt x="17427" y="57166"/>
                  <a:pt x="3620" y="47595"/>
                  <a:pt x="3620" y="32231"/>
                </a:cubicBezTo>
                <a:cubicBezTo>
                  <a:pt x="3620" y="16870"/>
                  <a:pt x="18376" y="10456"/>
                  <a:pt x="34069" y="4418"/>
                </a:cubicBezTo>
                <a:cubicBezTo>
                  <a:pt x="36436" y="3507"/>
                  <a:pt x="38703" y="3091"/>
                  <a:pt x="40856" y="3091"/>
                </a:cubicBezTo>
                <a:close/>
                <a:moveTo>
                  <a:pt x="1" y="1"/>
                </a:moveTo>
                <a:lnTo>
                  <a:pt x="1" y="63365"/>
                </a:lnTo>
                <a:lnTo>
                  <a:pt x="112650" y="63365"/>
                </a:lnTo>
                <a:lnTo>
                  <a:pt x="112650" y="1"/>
                </a:lnTo>
                <a:close/>
              </a:path>
            </a:pathLst>
          </a:custGeom>
          <a:solidFill>
            <a:srgbClr val="FBF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 flipH="1" rot="10800000">
            <a:off x="4469760" y="360"/>
            <a:ext cx="4750560" cy="5139720"/>
          </a:xfrm>
          <a:custGeom>
            <a:rect b="b" l="l" r="r" t="t"/>
            <a:pathLst>
              <a:path extrusionOk="0" h="40938" w="37839">
                <a:moveTo>
                  <a:pt x="37839" y="0"/>
                </a:moveTo>
                <a:cubicBezTo>
                  <a:pt x="31770" y="767"/>
                  <a:pt x="28951" y="3515"/>
                  <a:pt x="26969" y="11313"/>
                </a:cubicBezTo>
                <a:cubicBezTo>
                  <a:pt x="24991" y="19111"/>
                  <a:pt x="19814" y="21473"/>
                  <a:pt x="9908" y="26266"/>
                </a:cubicBezTo>
                <a:cubicBezTo>
                  <a:pt x="1" y="31059"/>
                  <a:pt x="3737" y="40938"/>
                  <a:pt x="3737" y="40938"/>
                </a:cubicBezTo>
                <a:lnTo>
                  <a:pt x="37839" y="40938"/>
                </a:lnTo>
                <a:lnTo>
                  <a:pt x="37839" y="0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 rot="5400000">
            <a:off x="61200" y="3595680"/>
            <a:ext cx="1486080" cy="1608120"/>
          </a:xfrm>
          <a:custGeom>
            <a:rect b="b" l="l" r="r" t="t"/>
            <a:pathLst>
              <a:path extrusionOk="0" h="40938" w="37839">
                <a:moveTo>
                  <a:pt x="37839" y="0"/>
                </a:moveTo>
                <a:cubicBezTo>
                  <a:pt x="31770" y="767"/>
                  <a:pt x="28951" y="3515"/>
                  <a:pt x="26969" y="11313"/>
                </a:cubicBezTo>
                <a:cubicBezTo>
                  <a:pt x="24991" y="19111"/>
                  <a:pt x="19814" y="21473"/>
                  <a:pt x="9908" y="26266"/>
                </a:cubicBezTo>
                <a:cubicBezTo>
                  <a:pt x="1" y="31059"/>
                  <a:pt x="3737" y="40938"/>
                  <a:pt x="3737" y="40938"/>
                </a:cubicBezTo>
                <a:lnTo>
                  <a:pt x="37839" y="40938"/>
                </a:lnTo>
                <a:lnTo>
                  <a:pt x="37839" y="0"/>
                </a:ln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2140200" y="767520"/>
            <a:ext cx="6284160" cy="2815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200"/>
              <a:buFont typeface="Playfair Display"/>
              <a:buNone/>
            </a:pPr>
            <a:r>
              <a:rPr lang="en" sz="32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Let’s continue</a:t>
            </a:r>
            <a:r>
              <a:rPr b="0" lang="en" sz="3200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!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300"/>
              <a:buFont typeface="Playfair Display"/>
              <a:buNone/>
            </a:pPr>
            <a:r>
              <a:rPr lang="en" sz="5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Milestone 0</a:t>
            </a:r>
            <a:r>
              <a:rPr b="0" lang="en" sz="5300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b="0" sz="5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Font typeface="Playfair Display"/>
              <a:buNone/>
            </a:pPr>
            <a:r>
              <a:rPr b="0" lang="en" sz="5200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</a:t>
            </a:r>
            <a:r>
              <a:rPr lang="en" sz="52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recap</a:t>
            </a:r>
            <a:endParaRPr b="0" sz="5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result for redi school"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400" y="483120"/>
            <a:ext cx="564120" cy="56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350" y="369175"/>
            <a:ext cx="613175" cy="96746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5408075" y="3526550"/>
            <a:ext cx="30159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D7E6B"/>
                </a:solidFill>
              </a:rPr>
              <a:t>Monday</a:t>
            </a:r>
            <a:r>
              <a:rPr b="1" lang="en" sz="1300">
                <a:solidFill>
                  <a:srgbClr val="DD7E6B"/>
                </a:solidFill>
              </a:rPr>
              <a:t>, September 21, 2026</a:t>
            </a:r>
            <a:endParaRPr b="1" sz="1300">
              <a:solidFill>
                <a:srgbClr val="DD7E6B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DD7E6B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D7E6B"/>
                </a:solidFill>
              </a:rPr>
              <a:t>JS recap day 2 of 2</a:t>
            </a:r>
            <a:endParaRPr sz="1300">
              <a:solidFill>
                <a:srgbClr val="DD7E6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1560363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Course Topics - 2 projects </a:t>
            </a:r>
            <a:endParaRPr b="1" i="0" sz="28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D5D5D"/>
                </a:solidFill>
                <a:latin typeface="Assistant"/>
                <a:ea typeface="Assistant"/>
                <a:cs typeface="Assistant"/>
                <a:sym typeface="Assistant"/>
              </a:rPr>
              <a:t>‹#›</a:t>
            </a:fld>
            <a:endParaRPr b="0" i="0" sz="800" u="none" cap="none" strike="noStrike">
              <a:solidFill>
                <a:srgbClr val="5D5D5D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2913568" y="1418350"/>
            <a:ext cx="2497200" cy="3418500"/>
          </a:xfrm>
          <a:prstGeom prst="rect">
            <a:avLst/>
          </a:prstGeom>
          <a:solidFill>
            <a:srgbClr val="F9CE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Build an e-commerce </a:t>
            </a:r>
            <a:r>
              <a:rPr b="0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with product listing, shopping cart, and dynamic filtering.</a:t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5652375" y="1466325"/>
            <a:ext cx="2497200" cy="3418500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Create a </a:t>
            </a:r>
            <a:r>
              <a:rPr b="1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clone of Twitter</a:t>
            </a:r>
            <a:r>
              <a:rPr b="0" i="0" lang="en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with tweet functionalities, user interactions and real-time updates</a:t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872218" y="968375"/>
            <a:ext cx="2765100" cy="397200"/>
          </a:xfrm>
          <a:prstGeom prst="rect">
            <a:avLst/>
          </a:prstGeom>
          <a:solidFill>
            <a:srgbClr val="F9CEB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     </a:t>
            </a:r>
            <a:r>
              <a:rPr b="1" i="0" lang="en" sz="2000" u="none" cap="none" strike="noStrike">
                <a:solidFill>
                  <a:srgbClr val="F9CEBE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xxxxx</a:t>
            </a:r>
            <a:r>
              <a:rPr b="1" i="0" lang="en" sz="2000" u="none" cap="none" strike="noStrike">
                <a:solidFill>
                  <a:srgbClr val="FFFFFF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React</a:t>
            </a:r>
            <a:r>
              <a:rPr b="1" i="0" lang="en" sz="2000" u="none" cap="none" strike="noStrike">
                <a:solidFill>
                  <a:srgbClr val="F9CEBE"/>
                </a:solidFill>
                <a:highlight>
                  <a:srgbClr val="F9CEBE"/>
                </a:highlight>
                <a:latin typeface="Assistant"/>
                <a:ea typeface="Assistant"/>
                <a:cs typeface="Assistant"/>
                <a:sym typeface="Assistant"/>
              </a:rPr>
              <a:t>  xxxxxx</a:t>
            </a:r>
            <a:endParaRPr b="1" i="0" sz="2000" u="none" cap="none" strike="noStrike">
              <a:solidFill>
                <a:srgbClr val="F9CEBE"/>
              </a:solidFill>
              <a:highlight>
                <a:srgbClr val="F9CEBE"/>
              </a:highlight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563825" y="968375"/>
            <a:ext cx="2655300" cy="397200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highlight>
                  <a:srgbClr val="DADADA"/>
                </a:highlight>
                <a:latin typeface="Assistant"/>
                <a:ea typeface="Assistant"/>
                <a:cs typeface="Assistant"/>
                <a:sym typeface="Assistant"/>
              </a:rPr>
              <a:t>      </a:t>
            </a: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DADADA"/>
                </a:highlight>
                <a:latin typeface="Assistant"/>
                <a:ea typeface="Assistant"/>
                <a:cs typeface="Assistant"/>
                <a:sym typeface="Assistant"/>
              </a:rPr>
              <a:t>Full-stack web-app</a:t>
            </a:r>
            <a:r>
              <a:rPr b="1" i="0" lang="en" sz="2000" u="none" cap="none" strike="noStrike">
                <a:solidFill>
                  <a:schemeClr val="lt1"/>
                </a:solidFill>
                <a:highlight>
                  <a:schemeClr val="lt2"/>
                </a:highlight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DADADA"/>
                </a:highlight>
                <a:latin typeface="Assistant"/>
                <a:ea typeface="Assistant"/>
                <a:cs typeface="Assistant"/>
                <a:sym typeface="Assistant"/>
              </a:rPr>
              <a:t>  </a:t>
            </a:r>
            <a:endParaRPr b="1" i="0" sz="2000" u="none" cap="none" strike="noStrike">
              <a:solidFill>
                <a:srgbClr val="DADADA"/>
              </a:solidFill>
              <a:highlight>
                <a:srgbClr val="DADADA"/>
              </a:highlight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4048" y="1951049"/>
            <a:ext cx="1985776" cy="1241399"/>
          </a:xfrm>
          <a:prstGeom prst="rect">
            <a:avLst/>
          </a:prstGeom>
          <a:solidFill>
            <a:srgbClr val="F9CEBE"/>
          </a:solidFill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6233" y="1325388"/>
            <a:ext cx="2066601" cy="116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9150" y="145513"/>
            <a:ext cx="613175" cy="967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4"/>
          <p:cNvGrpSpPr/>
          <p:nvPr/>
        </p:nvGrpSpPr>
        <p:grpSpPr>
          <a:xfrm>
            <a:off x="148478" y="965216"/>
            <a:ext cx="2765100" cy="3916450"/>
            <a:chOff x="148478" y="965216"/>
            <a:chExt cx="2765100" cy="3916450"/>
          </a:xfrm>
        </p:grpSpPr>
        <p:sp>
          <p:nvSpPr>
            <p:cNvPr id="77" name="Google Shape;77;p14"/>
            <p:cNvSpPr/>
            <p:nvPr/>
          </p:nvSpPr>
          <p:spPr>
            <a:xfrm>
              <a:off x="224603" y="1463166"/>
              <a:ext cx="2497200" cy="341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 sz="1300">
                  <a:latin typeface="Assistant"/>
                  <a:ea typeface="Assistant"/>
                  <a:cs typeface="Assistant"/>
                  <a:sym typeface="Assistant"/>
                </a:rPr>
                <a:t>Websites and web apps </a:t>
              </a:r>
              <a:r>
                <a:rPr lang="en" sz="1300">
                  <a:latin typeface="Assistant"/>
                  <a:ea typeface="Assistant"/>
                  <a:cs typeface="Assistant"/>
                  <a:sym typeface="Assistant"/>
                </a:rPr>
                <a:t>with responsive design, animations, interactions on the site, fetching data by APIs, persistence with localStorage…</a:t>
              </a:r>
              <a:endParaRPr i="0" sz="13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48478" y="965216"/>
              <a:ext cx="2765100" cy="39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" sz="2000">
                  <a:highlight>
                    <a:schemeClr val="accent1"/>
                  </a:highlight>
                  <a:latin typeface="Assistant"/>
                  <a:ea typeface="Assistant"/>
                  <a:cs typeface="Assistant"/>
                  <a:sym typeface="Assistant"/>
                </a:rPr>
                <a:t>HTML/CSS with JS</a:t>
              </a:r>
              <a:endParaRPr b="1" i="0" sz="2000" u="none" cap="none" strike="noStrike">
                <a:highlight>
                  <a:schemeClr val="accent1"/>
                </a:highlight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pic>
          <p:nvPicPr>
            <p:cNvPr id="79" name="Google Shape;79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1550" y="1564225"/>
              <a:ext cx="1513650" cy="2015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4294967295" type="subTitle"/>
          </p:nvPr>
        </p:nvSpPr>
        <p:spPr>
          <a:xfrm>
            <a:off x="2173320" y="1263600"/>
            <a:ext cx="2312640" cy="67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Warm-Up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287360" y="151380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/>
          <p:nvPr>
            <p:ph idx="4294967295" type="title"/>
          </p:nvPr>
        </p:nvSpPr>
        <p:spPr>
          <a:xfrm>
            <a:off x="1315080" y="148284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1287360" y="257940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 txBox="1"/>
          <p:nvPr>
            <p:ph idx="4294967295" type="title"/>
          </p:nvPr>
        </p:nvSpPr>
        <p:spPr>
          <a:xfrm>
            <a:off x="1315080" y="254844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204275" y="1737150"/>
            <a:ext cx="301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Check in &amp; “mood-o-meter” 😳😎🤯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 txBox="1"/>
          <p:nvPr>
            <p:ph idx="4294967295" type="subTitle"/>
          </p:nvPr>
        </p:nvSpPr>
        <p:spPr>
          <a:xfrm>
            <a:off x="2157475" y="3554525"/>
            <a:ext cx="28443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recap of JS basics - contd.</a:t>
            </a:r>
            <a:endParaRPr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1302480" y="366912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 txBox="1"/>
          <p:nvPr>
            <p:ph idx="4294967295" type="title"/>
          </p:nvPr>
        </p:nvSpPr>
        <p:spPr>
          <a:xfrm>
            <a:off x="1330560" y="363852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2204280" y="2041560"/>
            <a:ext cx="93312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1</a:t>
            </a: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0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2204280" y="3961800"/>
            <a:ext cx="87012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3</a:t>
            </a: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0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 txBox="1"/>
          <p:nvPr>
            <p:ph idx="4294967295" type="subTitle"/>
          </p:nvPr>
        </p:nvSpPr>
        <p:spPr>
          <a:xfrm>
            <a:off x="6630480" y="1339920"/>
            <a:ext cx="1578240" cy="67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Break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744160" y="151380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 txBox="1"/>
          <p:nvPr>
            <p:ph idx="4294967295" type="title"/>
          </p:nvPr>
        </p:nvSpPr>
        <p:spPr>
          <a:xfrm>
            <a:off x="5772240" y="148284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idx="4294967295" type="subTitle"/>
          </p:nvPr>
        </p:nvSpPr>
        <p:spPr>
          <a:xfrm>
            <a:off x="6630120" y="2465640"/>
            <a:ext cx="1788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Playfair Display"/>
              <a:buNone/>
            </a:pPr>
            <a:r>
              <a:rPr lang="en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for React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5744160" y="2579400"/>
            <a:ext cx="870120" cy="62244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>
            <p:ph idx="4294967295" type="title"/>
          </p:nvPr>
        </p:nvSpPr>
        <p:spPr>
          <a:xfrm>
            <a:off x="5772240" y="2548440"/>
            <a:ext cx="739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05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630125" y="3126600"/>
            <a:ext cx="24630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DOM manipulation, localStorage </a:t>
            </a:r>
            <a:r>
              <a:rPr b="1" i="1"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=&gt; SPA (To Do List)</a:t>
            </a:r>
            <a:endParaRPr b="1" i="1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630120" y="1691280"/>
            <a:ext cx="93312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10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6705230" y="2873550"/>
            <a:ext cx="193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45 </a:t>
            </a: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2157473" y="4291550"/>
            <a:ext cx="284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functions, promises, asynchronicity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>
            <p:ph idx="4294967295" type="subTitle"/>
          </p:nvPr>
        </p:nvSpPr>
        <p:spPr>
          <a:xfrm>
            <a:off x="2172950" y="2465700"/>
            <a:ext cx="30156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Playfair Display"/>
              <a:buNone/>
            </a:pPr>
            <a:r>
              <a:rPr lang="en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⏮️ Last time - JS basics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2172960" y="2897291"/>
            <a:ext cx="93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10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>
            <p:ph idx="4294967295" type="subTitle"/>
          </p:nvPr>
        </p:nvSpPr>
        <p:spPr>
          <a:xfrm>
            <a:off x="6630127" y="3660723"/>
            <a:ext cx="2359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Frontend Web App</a:t>
            </a:r>
            <a:endParaRPr b="0" i="0" sz="18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744155" y="3875993"/>
            <a:ext cx="870116" cy="622429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>
            <p:ph idx="4294967295" type="title"/>
          </p:nvPr>
        </p:nvSpPr>
        <p:spPr>
          <a:xfrm>
            <a:off x="5772222" y="3845398"/>
            <a:ext cx="9330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9999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4000">
                <a:solidFill>
                  <a:srgbClr val="9999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endParaRPr b="0" i="0" sz="40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630125" y="4331700"/>
            <a:ext cx="225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Abel"/>
                <a:ea typeface="Abel"/>
                <a:cs typeface="Abel"/>
                <a:sym typeface="Abel"/>
              </a:rPr>
              <a:t>Build a </a:t>
            </a:r>
            <a:r>
              <a:rPr b="1" i="1" lang="en">
                <a:solidFill>
                  <a:srgbClr val="999999"/>
                </a:solidFill>
                <a:latin typeface="Abel"/>
                <a:ea typeface="Abel"/>
                <a:cs typeface="Abel"/>
                <a:sym typeface="Abel"/>
              </a:rPr>
              <a:t>Grocery List</a:t>
            </a:r>
            <a:endParaRPr b="1" i="1" sz="1400" u="none" cap="none" strike="noStrike">
              <a:solidFill>
                <a:srgbClr val="999999"/>
              </a:solidFill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630480" y="4076959"/>
            <a:ext cx="193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Next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422050" y="439450"/>
            <a:ext cx="4299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Outline</a:t>
            </a:r>
            <a:endParaRPr sz="29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2204273" y="3175154"/>
            <a:ext cx="284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objects, arrays, destructuring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idx="4294967295" type="subTitle"/>
          </p:nvPr>
        </p:nvSpPr>
        <p:spPr>
          <a:xfrm>
            <a:off x="2305620" y="1449745"/>
            <a:ext cx="23127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Warm-Up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52499" y="1141150"/>
            <a:ext cx="1451784" cy="1127412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>
            <p:ph idx="4294967295" type="title"/>
          </p:nvPr>
        </p:nvSpPr>
        <p:spPr>
          <a:xfrm>
            <a:off x="297964" y="1449750"/>
            <a:ext cx="2422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55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1716400" y="2379300"/>
            <a:ext cx="5593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Check in &amp; “mood-o-meter” 😳😎🤯</a:t>
            </a:r>
            <a:endParaRPr sz="400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752499" y="1141150"/>
            <a:ext cx="1451784" cy="1127412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 txBox="1"/>
          <p:nvPr>
            <p:ph idx="4294967295" type="title"/>
          </p:nvPr>
        </p:nvSpPr>
        <p:spPr>
          <a:xfrm>
            <a:off x="297964" y="1449750"/>
            <a:ext cx="2422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55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55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 txBox="1"/>
          <p:nvPr>
            <p:ph idx="4294967295" type="subTitle"/>
          </p:nvPr>
        </p:nvSpPr>
        <p:spPr>
          <a:xfrm>
            <a:off x="2350350" y="1300700"/>
            <a:ext cx="44433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Playfair Display"/>
              <a:buNone/>
            </a:pPr>
            <a:r>
              <a:rPr lang="en" sz="26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⏮️ Last time - JS basics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2381676" y="2010150"/>
            <a:ext cx="389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objects, arrays, destructuring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idx="4294967295" type="subTitle"/>
          </p:nvPr>
        </p:nvSpPr>
        <p:spPr>
          <a:xfrm>
            <a:off x="2305625" y="1449750"/>
            <a:ext cx="5124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Recap of JS basics - contd.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52499" y="1141150"/>
            <a:ext cx="1451784" cy="1127412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 txBox="1"/>
          <p:nvPr>
            <p:ph idx="4294967295" type="title"/>
          </p:nvPr>
        </p:nvSpPr>
        <p:spPr>
          <a:xfrm>
            <a:off x="297964" y="1449750"/>
            <a:ext cx="2422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55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55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2305627" y="2423275"/>
            <a:ext cx="593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functions, promises, asynchronicity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idx="4294967295" type="subTitle"/>
          </p:nvPr>
        </p:nvSpPr>
        <p:spPr>
          <a:xfrm>
            <a:off x="7246446" y="575911"/>
            <a:ext cx="1713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45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basics</a:t>
            </a:r>
            <a:endParaRPr b="0" i="0" sz="2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095874" y="347300"/>
            <a:ext cx="1075493" cy="835203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>
            <p:ph idx="4294967295" type="title"/>
          </p:nvPr>
        </p:nvSpPr>
        <p:spPr>
          <a:xfrm>
            <a:off x="5759149" y="575914"/>
            <a:ext cx="1794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63"/>
              <a:buFont typeface="Playfair Display"/>
              <a:buNone/>
            </a:pPr>
            <a:r>
              <a:rPr b="0" i="0" lang="en" sz="4074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4074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b="0" i="0" sz="40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653250" y="1769609"/>
            <a:ext cx="5953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Functions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Asynchronicity 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Promises -&gt; </a:t>
            </a:r>
            <a:r>
              <a:rPr lang="en" sz="17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MDN documentation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1304950" y="5648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Promises</a:t>
            </a:r>
            <a:endParaRPr sz="20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4294967295" type="subTitle"/>
          </p:nvPr>
        </p:nvSpPr>
        <p:spPr>
          <a:xfrm>
            <a:off x="7246446" y="575911"/>
            <a:ext cx="1713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45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basics</a:t>
            </a:r>
            <a:endParaRPr b="0" i="0" sz="2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095874" y="347300"/>
            <a:ext cx="1075493" cy="835203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>
            <p:ph idx="4294967295" type="title"/>
          </p:nvPr>
        </p:nvSpPr>
        <p:spPr>
          <a:xfrm>
            <a:off x="5759149" y="575914"/>
            <a:ext cx="1794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63"/>
              <a:buFont typeface="Playfair Display"/>
              <a:buNone/>
            </a:pPr>
            <a:r>
              <a:rPr b="0" i="0" lang="en" sz="4074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4074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b="0" i="0" sz="40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653250" y="1769609"/>
            <a:ext cx="5953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Functions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Asynchronicity 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Promises -&gt; </a:t>
            </a:r>
            <a:r>
              <a:rPr lang="en" sz="17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MDN documentation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1304950" y="5648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Promises</a:t>
            </a:r>
            <a:endParaRPr sz="20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56" name="Google Shape;15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00" y="1309700"/>
            <a:ext cx="8654825" cy="3209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73763">
                <a:alpha val="50000"/>
              </a:srgbClr>
            </a:outerShdw>
          </a:effectLst>
        </p:spPr>
      </p:pic>
      <p:sp>
        <p:nvSpPr>
          <p:cNvPr id="157" name="Google Shape;157;p20"/>
          <p:cNvSpPr txBox="1"/>
          <p:nvPr/>
        </p:nvSpPr>
        <p:spPr>
          <a:xfrm>
            <a:off x="2493463" y="4678425"/>
            <a:ext cx="39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Source: </a:t>
            </a:r>
            <a:r>
              <a:rPr lang="en" sz="1200" u="sng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MDN documentation</a:t>
            </a:r>
            <a:r>
              <a:rPr lang="en" sz="12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2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idx="4294967295" type="title"/>
          </p:nvPr>
        </p:nvSpPr>
        <p:spPr>
          <a:xfrm>
            <a:off x="311997" y="336755"/>
            <a:ext cx="8520000" cy="19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600"/>
              <a:buFont typeface="Playfair Display"/>
              <a:buNone/>
            </a:pPr>
            <a:r>
              <a:rPr i="0" lang="en" sz="7400" u="none" cap="none" strike="noStrike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Break!</a:t>
            </a:r>
            <a:endParaRPr i="0" sz="7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3" name="Google Shape;163;p21">
            <a:hlinkClick r:id="rId3"/>
          </p:cNvPr>
          <p:cNvSpPr/>
          <p:nvPr/>
        </p:nvSpPr>
        <p:spPr>
          <a:xfrm>
            <a:off x="34951" y="4510525"/>
            <a:ext cx="928059" cy="595115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🏴‍☠️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surprise inside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2363850" y="2912000"/>
            <a:ext cx="35736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See you </a:t>
            </a:r>
            <a:r>
              <a:rPr lang="en" sz="2800">
                <a:latin typeface="Comfortaa"/>
                <a:ea typeface="Comfortaa"/>
                <a:cs typeface="Comfortaa"/>
                <a:sym typeface="Comfortaa"/>
              </a:rPr>
              <a:t>again in 10 Minutes</a:t>
            </a: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 😉</a:t>
            </a:r>
            <a:endParaRPr i="0" sz="28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755225" y="2576725"/>
            <a:ext cx="157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☕️</a:t>
            </a:r>
            <a:endParaRPr sz="6000"/>
          </a:p>
        </p:txBody>
      </p:sp>
      <p:sp>
        <p:nvSpPr>
          <p:cNvPr id="166" name="Google Shape;166;p21"/>
          <p:cNvSpPr txBox="1"/>
          <p:nvPr/>
        </p:nvSpPr>
        <p:spPr>
          <a:xfrm>
            <a:off x="8021225" y="3870025"/>
            <a:ext cx="1025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🚾</a:t>
            </a:r>
            <a:endParaRPr sz="3900"/>
          </a:p>
        </p:txBody>
      </p:sp>
      <p:sp>
        <p:nvSpPr>
          <p:cNvPr id="167" name="Google Shape;167;p21"/>
          <p:cNvSpPr txBox="1"/>
          <p:nvPr/>
        </p:nvSpPr>
        <p:spPr>
          <a:xfrm>
            <a:off x="-157102" y="892500"/>
            <a:ext cx="220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🌬️</a:t>
            </a:r>
            <a:endParaRPr sz="7200"/>
          </a:p>
        </p:txBody>
      </p:sp>
      <p:sp>
        <p:nvSpPr>
          <p:cNvPr id="168" name="Google Shape;168;p21"/>
          <p:cNvSpPr txBox="1"/>
          <p:nvPr/>
        </p:nvSpPr>
        <p:spPr>
          <a:xfrm>
            <a:off x="7415125" y="1400400"/>
            <a:ext cx="1197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⏳️</a:t>
            </a:r>
            <a:endParaRPr sz="3900"/>
          </a:p>
        </p:txBody>
      </p:sp>
      <p:sp>
        <p:nvSpPr>
          <p:cNvPr id="169" name="Google Shape;169;p21"/>
          <p:cNvSpPr/>
          <p:nvPr/>
        </p:nvSpPr>
        <p:spPr>
          <a:xfrm>
            <a:off x="7961885" y="337288"/>
            <a:ext cx="870116" cy="622429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 txBox="1"/>
          <p:nvPr>
            <p:ph idx="4294967295" type="title"/>
          </p:nvPr>
        </p:nvSpPr>
        <p:spPr>
          <a:xfrm>
            <a:off x="7989965" y="306327"/>
            <a:ext cx="739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4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4294967295" type="subTitle"/>
          </p:nvPr>
        </p:nvSpPr>
        <p:spPr>
          <a:xfrm>
            <a:off x="2305624" y="1449750"/>
            <a:ext cx="47937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for React and Next.js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752499" y="1141150"/>
            <a:ext cx="1451784" cy="1127412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 txBox="1"/>
          <p:nvPr>
            <p:ph idx="4294967295" type="title"/>
          </p:nvPr>
        </p:nvSpPr>
        <p:spPr>
          <a:xfrm>
            <a:off x="297964" y="1449750"/>
            <a:ext cx="2422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Playfair Display"/>
              <a:buNone/>
            </a:pPr>
            <a:r>
              <a:rPr b="0" i="0" lang="en" sz="55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lang="en" sz="55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1716400" y="2379300"/>
            <a:ext cx="5593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404" y="3552589"/>
            <a:ext cx="1127401" cy="112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4027" y="3552594"/>
            <a:ext cx="1127401" cy="112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8651" y="3552576"/>
            <a:ext cx="1127401" cy="11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/>
          <p:nvPr/>
        </p:nvSpPr>
        <p:spPr>
          <a:xfrm>
            <a:off x="2007575" y="2441025"/>
            <a:ext cx="51363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DOM manipulation, localStorage </a:t>
            </a:r>
            <a:r>
              <a:rPr b="1" i="1" lang="en" sz="19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=&gt; SPA (To Do List)</a:t>
            </a:r>
            <a:endParaRPr b="1" i="1" sz="19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>
            <a:hlinkClick r:id="rId3"/>
          </p:cNvPr>
          <p:cNvSpPr/>
          <p:nvPr/>
        </p:nvSpPr>
        <p:spPr>
          <a:xfrm>
            <a:off x="8142120" y="240480"/>
            <a:ext cx="831960" cy="59508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 txBox="1"/>
          <p:nvPr>
            <p:ph idx="4294967295" type="title"/>
          </p:nvPr>
        </p:nvSpPr>
        <p:spPr>
          <a:xfrm>
            <a:off x="1447560" y="1772280"/>
            <a:ext cx="624852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6000"/>
              <a:buFont typeface="Playfair Display"/>
              <a:buNone/>
            </a:pPr>
            <a:r>
              <a:rPr b="0" i="0" lang="en" sz="6000" u="none" cap="none" strike="noStrike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Final questions?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3232400" y="3740025"/>
            <a:ext cx="135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📸</a:t>
            </a:r>
            <a:endParaRPr sz="6000"/>
          </a:p>
        </p:txBody>
      </p:sp>
      <p:sp>
        <p:nvSpPr>
          <p:cNvPr id="190" name="Google Shape;190;p23"/>
          <p:cNvSpPr txBox="1"/>
          <p:nvPr/>
        </p:nvSpPr>
        <p:spPr>
          <a:xfrm>
            <a:off x="4436275" y="4145575"/>
            <a:ext cx="453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Comfortaa"/>
                <a:ea typeface="Comfortaa"/>
                <a:cs typeface="Comfortaa"/>
                <a:sym typeface="Comfortaa"/>
              </a:rPr>
              <a:t>❕let’s make a group picture 😁</a:t>
            </a:r>
            <a:endParaRPr sz="1700">
              <a:solidFill>
                <a:srgbClr val="07376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1" name="Google Shape;191;p23">
            <a:hlinkClick r:id="rId4"/>
          </p:cNvPr>
          <p:cNvSpPr/>
          <p:nvPr/>
        </p:nvSpPr>
        <p:spPr>
          <a:xfrm>
            <a:off x="7874300" y="337376"/>
            <a:ext cx="1099777" cy="678810"/>
          </a:xfrm>
          <a:custGeom>
            <a:rect b="b" l="l" r="r" t="t"/>
            <a:pathLst>
              <a:path extrusionOk="0" h="12086" w="16893">
                <a:moveTo>
                  <a:pt x="9064" y="0"/>
                </a:moveTo>
                <a:cubicBezTo>
                  <a:pt x="7693" y="0"/>
                  <a:pt x="6072" y="215"/>
                  <a:pt x="4159" y="725"/>
                </a:cubicBezTo>
                <a:cubicBezTo>
                  <a:pt x="1862" y="1337"/>
                  <a:pt x="375" y="2073"/>
                  <a:pt x="177" y="4208"/>
                </a:cubicBezTo>
                <a:cubicBezTo>
                  <a:pt x="1" y="6113"/>
                  <a:pt x="800" y="8433"/>
                  <a:pt x="2785" y="10176"/>
                </a:cubicBezTo>
                <a:cubicBezTo>
                  <a:pt x="4602" y="11772"/>
                  <a:pt x="6115" y="12085"/>
                  <a:pt x="7966" y="12085"/>
                </a:cubicBezTo>
                <a:cubicBezTo>
                  <a:pt x="8388" y="12085"/>
                  <a:pt x="8827" y="12069"/>
                  <a:pt x="9291" y="12048"/>
                </a:cubicBezTo>
                <a:cubicBezTo>
                  <a:pt x="12991" y="11879"/>
                  <a:pt x="16893" y="8340"/>
                  <a:pt x="15878" y="4208"/>
                </a:cubicBezTo>
                <a:cubicBezTo>
                  <a:pt x="15438" y="2424"/>
                  <a:pt x="13670" y="0"/>
                  <a:pt x="9064" y="0"/>
                </a:cubicBez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🏴‍☠️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lt2"/>
                </a:solidFill>
              </a:rPr>
              <a:t>surprise inside</a:t>
            </a:r>
            <a:endParaRPr b="0" i="1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Hygge general by Slidesgo">
  <a:themeElements>
    <a:clrScheme name="Simple Light">
      <a:dk1>
        <a:srgbClr val="FBFBFB"/>
      </a:dk1>
      <a:lt1>
        <a:srgbClr val="434343"/>
      </a:lt1>
      <a:dk2>
        <a:srgbClr val="FCE5CD"/>
      </a:dk2>
      <a:lt2>
        <a:srgbClr val="E6B8AF"/>
      </a:lt2>
      <a:accent1>
        <a:srgbClr val="D0E0E3"/>
      </a:accent1>
      <a:accent2>
        <a:srgbClr val="33AFC8"/>
      </a:accent2>
      <a:accent3>
        <a:srgbClr val="FBFBFB"/>
      </a:accent3>
      <a:accent4>
        <a:srgbClr val="434343"/>
      </a:accent4>
      <a:accent5>
        <a:srgbClr val="FCE5CD"/>
      </a:accent5>
      <a:accent6>
        <a:srgbClr val="E6B8A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